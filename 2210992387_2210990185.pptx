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+DcLOCvY4cyXZFgyloVTODxEU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98ab61bc_0_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a98ab61bc_0_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da98ab61bc_0_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a98ab61bc_0_1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a98ab61bc_0_1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da98ab61bc_0_14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a98ab61bc_0_2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a98ab61bc_0_2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a98ab61bc_0_22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a98ab61bc_0_2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a98ab61bc_0_2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da98ab61bc_0_26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a98ab61bc_0_3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a98ab61bc_0_3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da98ab61bc_0_3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a98ab61bc_0_5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a98ab61bc_0_5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da98ab61bc_0_5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a98ab61bc_0_4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a98ab61bc_0_4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da98ab61bc_0_46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a98ab61bc_0_6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a98ab61bc_0_6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a98ab61bc_0_6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a98ab61bc_0_6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a98ab61bc_0_6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a98ab61bc_0_64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4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31"/>
            <a:ext cx="9144000" cy="53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Analysis of Ensemble learning Architecture and Explaianble AI for early CVD prediction</a:t>
            </a:r>
            <a:endParaRPr b="0" i="1" sz="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Siya Bhagat (2210992387)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Aryan Walia (2210990185)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Dr. Rajat Takkar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Cardiovascular diseases (CVDs) are the leading cause of death globally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17.9 million deaths/year — 1 death every 33 seconds in the US alone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Expected 46% rise in CVD cases by 2033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Current Limitations: 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Traditional tools (Framingham Risk Score) use only 5-7 variables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Cannot capture complex, non-linear patient data patterns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ML models exist but lack transparency for clinical use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Our Approach:  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Compare multiple ML models on real patient data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Use SHAP to make predictions explainable to doctors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Bridge the gap between AI accuracy and clinical trust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a98ab61bc_0_7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g3da98ab61bc_0_7"/>
          <p:cNvSpPr txBox="1"/>
          <p:nvPr/>
        </p:nvSpPr>
        <p:spPr>
          <a:xfrm>
            <a:off x="649525" y="1122900"/>
            <a:ext cx="7593300" cy="4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Framingham Risk Score (FRS) — traditional linear model, limited variables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Recent studies show ensemble models outperform linear classifiers in CVD prediction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XGBoost proven effective in structured healthcare data (Chen &amp; Guestrin, 2016)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SHAP introduced by Lundberg &amp; Lee (2017) for consistent feature attribution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SMOTE (Chawla et al., 2002) — standard technique for medical data imbalance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Studies show SHAP explanations increase clinician adoption of AI tools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Gap Identified: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No comprehensive comparison of ensemble architectures +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explainability on CVD data with proper class balancing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a98ab61bc_0_14"/>
          <p:cNvSpPr txBox="1"/>
          <p:nvPr/>
        </p:nvSpPr>
        <p:spPr>
          <a:xfrm rot="-630">
            <a:off x="800448" y="117886"/>
            <a:ext cx="81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g3da98ab61bc_0_14"/>
          <p:cNvSpPr txBox="1"/>
          <p:nvPr/>
        </p:nvSpPr>
        <p:spPr>
          <a:xfrm>
            <a:off x="530950" y="1061875"/>
            <a:ext cx="7625100" cy="54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Cleveland Heart Disease Dataset (UCI Repository)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303 patients | 13 input features | 1 target variable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Target: 0 = No Disease | 1 = Disease Present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Key Features: 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Feature     Description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age         Patient age (29–77)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sex         Gender (0=Female, 1=Male)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cp          Chest pain type (1–4)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trestbps    Resting blood pressure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chol        Serum cholesterol (mg/dl)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thalach     Maximum heart rate achieved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oldpeak     ST depression induced by exercise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ca          Number of major vessels (0–3)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thal        Thalassemia type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Missing Values: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ca → 4 missing | thal → 2 missing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Handled using KNN Imputation (k=5)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a98ab61bc_0_22"/>
          <p:cNvSpPr txBox="1"/>
          <p:nvPr/>
        </p:nvSpPr>
        <p:spPr>
          <a:xfrm>
            <a:off x="722600" y="94875"/>
            <a:ext cx="802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3da98ab61bc_0_22"/>
          <p:cNvSpPr txBox="1"/>
          <p:nvPr/>
        </p:nvSpPr>
        <p:spPr>
          <a:xfrm>
            <a:off x="443600" y="1024350"/>
            <a:ext cx="7700100" cy="6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 Pipeline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[1] Data Loading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↓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[2] KNN Imputation (handle missing values)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↓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[3] Exploratory Data Analysis (EDA)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↓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[4] Z-Score Normalization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↓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[5] Feature Selection — Lasso (L1) + RFE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↓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[6] SMOTE — Class Balancing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↓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[7] Model Training — 10-Fold Cross Validation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↓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[8] Evaluation — Accuracy, F1, ROC-AUC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↓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[9] SHAP Explainability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a98ab61bc_0_26"/>
          <p:cNvSpPr txBox="1"/>
          <p:nvPr/>
        </p:nvSpPr>
        <p:spPr>
          <a:xfrm>
            <a:off x="1666575" y="988150"/>
            <a:ext cx="750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19" name="Google Shape;119;g3da98ab61bc_0_26"/>
          <p:cNvSpPr txBox="1"/>
          <p:nvPr/>
        </p:nvSpPr>
        <p:spPr>
          <a:xfrm>
            <a:off x="663675" y="73750"/>
            <a:ext cx="849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g3da98ab61bc_0_26"/>
          <p:cNvSpPr txBox="1"/>
          <p:nvPr/>
        </p:nvSpPr>
        <p:spPr>
          <a:xfrm>
            <a:off x="663675" y="1355750"/>
            <a:ext cx="7606500" cy="44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Z-Score Normalization    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Converts features to mean=0, std=1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Prevents scale dominance (chol: 126-564 vs age: 29-77)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Critical for SVM (distance-based algorithm)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 Selection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Lasso (L1): shrinks irrelevant coefficients to exactly zero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RFE top 6 features: sex, cp, exang, slope, ca, thal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SMOTE (Synthetic Minority Oversampling)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Fixes class imbalance in medical datasets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x_new = x_i + rand(0,1) × (x_j − x_i)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Applied inside each CV fold — prevents data leakage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a98ab61bc_0_30"/>
          <p:cNvSpPr txBox="1"/>
          <p:nvPr/>
        </p:nvSpPr>
        <p:spPr>
          <a:xfrm>
            <a:off x="495825" y="160425"/>
            <a:ext cx="830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Used: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g3da98ab61bc_0_30"/>
          <p:cNvSpPr txBox="1"/>
          <p:nvPr/>
        </p:nvSpPr>
        <p:spPr>
          <a:xfrm>
            <a:off x="589775" y="1389900"/>
            <a:ext cx="7700100" cy="3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Model                        Type                            Key Characteristic 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Logistic Regression   Linear baseline           Sigmoid function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SVM                          Hyperplane-based       Maximizes class margin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Random Forest          Bagging ensemble       Reduces variance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XGBoost                   Boosting ensemble       L1+L2 regularization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Strategy: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10-Fold Stratified Cross-Validation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SMOTE applied inside each fold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a98ab61bc_0_50"/>
          <p:cNvSpPr txBox="1"/>
          <p:nvPr/>
        </p:nvSpPr>
        <p:spPr>
          <a:xfrm>
            <a:off x="988150" y="1386350"/>
            <a:ext cx="8185500" cy="3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                        Accuracy     ROC-AUC   F1-Score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XGBoost                   91.4%         0.94               0.92  ← BEST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Random Forest          88.7%         0.91               0.88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SVM                          85.5%         0.89               0.86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Logistic Regression   81.2%         —                  —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Key Observations:  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Ensemble models outperform linear models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XGBoost best — captures non-linear feature interactions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Logistic Regression limited by linear decision boundary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34" name="Google Shape;134;g3da98ab61bc_0_50"/>
          <p:cNvSpPr txBox="1"/>
          <p:nvPr/>
        </p:nvSpPr>
        <p:spPr>
          <a:xfrm>
            <a:off x="1047250" y="59000"/>
            <a:ext cx="8067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a98ab61bc_0_46"/>
          <p:cNvSpPr txBox="1"/>
          <p:nvPr/>
        </p:nvSpPr>
        <p:spPr>
          <a:xfrm>
            <a:off x="463150" y="0"/>
            <a:ext cx="849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Explainability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g3da98ab61bc_0_46"/>
          <p:cNvSpPr txBox="1"/>
          <p:nvPr/>
        </p:nvSpPr>
        <p:spPr>
          <a:xfrm>
            <a:off x="531700" y="1275675"/>
            <a:ext cx="76065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= SHapley Additive exPlanations  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Based on cooperative game theory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Assigns contribution score to each feature per prediction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Consistent and locally accurate — unlike LIME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Top 3 Features (by SHAP):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1. Age        — strongest overall risk factor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2. Thalach    — low max heart rate = poor cardiac function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3. Oldpeak    — high ST depression = myocardial ischemia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Clinical Impact:    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Doctors can see WHY a prediction was made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Weight of Advice increases: 0.50 → 0.73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Black Box → Glass Box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a98ab61bc_0_60"/>
          <p:cNvSpPr txBox="1"/>
          <p:nvPr/>
        </p:nvSpPr>
        <p:spPr>
          <a:xfrm>
            <a:off x="556200" y="87975"/>
            <a:ext cx="822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g3da98ab61bc_0_60"/>
          <p:cNvSpPr txBox="1"/>
          <p:nvPr/>
        </p:nvSpPr>
        <p:spPr>
          <a:xfrm>
            <a:off x="556200" y="1621300"/>
            <a:ext cx="7593300" cy="25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XGBoost achieved best performance: 91.4% accuracy, 0.94 ROC-AUC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SMOTE effectively handled class imbalance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Lasso + RFE reduced noise and improved model efficiency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SHAP made predictions clinically interpretable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Ensemble models significantly outperform traditional linear tools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Research paper submitted and is also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accepted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 IJRASET (ID: IJRASET80940)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a98ab61bc_0_64"/>
          <p:cNvSpPr txBox="1"/>
          <p:nvPr/>
        </p:nvSpPr>
        <p:spPr>
          <a:xfrm>
            <a:off x="514750" y="97225"/>
            <a:ext cx="824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g3da98ab61bc_0_64"/>
          <p:cNvSpPr txBox="1"/>
          <p:nvPr/>
        </p:nvSpPr>
        <p:spPr>
          <a:xfrm>
            <a:off x="448250" y="1709675"/>
            <a:ext cx="7700100" cy="27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Integrate with Electronic Health Records (EHR)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Deploy CardioPredict AI dashboard using Streamlit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Explore TabNet + XGBoost stacking (11%+ accuracy gain)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Add Counterfactual Explanations                     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"Reduce BMI by 5 → risk drops from High to Moderate" 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Validate on larger, multi-ethnic, real-world datasets                                                                                                                                                     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Real-time risk monitoring via wearable device integration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